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A56DB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0" y="-457200"/>
            <a:ext cx="3200400" cy="3200400"/>
          </a:xfrm>
          <a:prstGeom prst="ellipse">
            <a:avLst/>
          </a:prstGeom>
          <a:solidFill>
            <a:srgbClr val="1A56DB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132320" y="182880"/>
            <a:ext cx="2011680" cy="2011680"/>
          </a:xfrm>
          <a:prstGeom prst="ellipse">
            <a:avLst/>
          </a:prstGeom>
          <a:solidFill>
            <a:srgbClr val="D97706">
              <a:alpha val="2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32004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ICC Champions Trophy 2025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57200" y="1920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Dashboard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57200" y="254203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+ Design &amp; Analysis of Algorithms — Project Presentation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43484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Toib Fayaz  ·  Ujjawal Sharma</a:t>
            </a:r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RA2411030030061  ·  RA2411030030054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B.Tech CSE  ·  4th Semester  ·  SRM IST Delhi NCR  ·  2025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32688"/>
            <a:ext cx="914400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 at a Glance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01168" y="1115568"/>
            <a:ext cx="210312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18">
                <a:alpha val="7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01168" y="1115568"/>
            <a:ext cx="2103120" cy="56692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170432"/>
            <a:ext cx="6766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🗄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01168" y="171907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01168" y="202996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3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84048" y="2340864"/>
            <a:ext cx="17373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2336" y="2487168"/>
            <a:ext cx="128016" cy="128016"/>
          </a:xfrm>
          <a:prstGeom prst="ellipse">
            <a:avLst/>
          </a:prstGeom>
          <a:solidFill>
            <a:srgbClr val="0D1B2A"/>
          </a:solidFill>
          <a:ln/>
        </p:spPr>
      </p:sp>
      <p:sp>
        <p:nvSpPr>
          <p:cNvPr id="12" name="Text 10"/>
          <p:cNvSpPr/>
          <p:nvPr/>
        </p:nvSpPr>
        <p:spPr>
          <a:xfrm>
            <a:off x="603504" y="245059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tables + 7 views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02336" y="2944368"/>
            <a:ext cx="128016" cy="128016"/>
          </a:xfrm>
          <a:prstGeom prst="ellipse">
            <a:avLst/>
          </a:prstGeom>
          <a:solidFill>
            <a:srgbClr val="0D1B2A"/>
          </a:solidFill>
          <a:ln/>
        </p:spPr>
      </p:sp>
      <p:sp>
        <p:nvSpPr>
          <p:cNvPr id="14" name="Text 12"/>
          <p:cNvSpPr/>
          <p:nvPr/>
        </p:nvSpPr>
        <p:spPr>
          <a:xfrm>
            <a:off x="603504" y="290779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Triggers + Window Fns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02336" y="3401568"/>
            <a:ext cx="128016" cy="128016"/>
          </a:xfrm>
          <a:prstGeom prst="ellipse">
            <a:avLst/>
          </a:prstGeom>
          <a:solidFill>
            <a:srgbClr val="0D1B2A"/>
          </a:solidFill>
          <a:ln/>
        </p:spPr>
      </p:sp>
      <p:sp>
        <p:nvSpPr>
          <p:cNvPr id="16" name="Text 14"/>
          <p:cNvSpPr/>
          <p:nvPr/>
        </p:nvSpPr>
        <p:spPr>
          <a:xfrm>
            <a:off x="603504" y="336499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3NF Normalized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487168" y="1115568"/>
            <a:ext cx="210312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18">
                <a:alpha val="7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487168" y="1115568"/>
            <a:ext cx="2103120" cy="566928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19" name="Text 17"/>
          <p:cNvSpPr/>
          <p:nvPr/>
        </p:nvSpPr>
        <p:spPr>
          <a:xfrm>
            <a:off x="3200400" y="1170432"/>
            <a:ext cx="6766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2487168" y="171907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56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487168" y="202996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DAA Module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670048" y="2340864"/>
            <a:ext cx="17373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688336" y="2487168"/>
            <a:ext cx="128016" cy="128016"/>
          </a:xfrm>
          <a:prstGeom prst="ellipse">
            <a:avLst/>
          </a:prstGeom>
          <a:solidFill>
            <a:srgbClr val="1A56DB"/>
          </a:solidFill>
          <a:ln/>
        </p:spPr>
      </p:sp>
      <p:sp>
        <p:nvSpPr>
          <p:cNvPr id="24" name="Text 22"/>
          <p:cNvSpPr/>
          <p:nvPr/>
        </p:nvSpPr>
        <p:spPr>
          <a:xfrm>
            <a:off x="2889504" y="245059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algorithms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688336" y="2944368"/>
            <a:ext cx="128016" cy="128016"/>
          </a:xfrm>
          <a:prstGeom prst="ellipse">
            <a:avLst/>
          </a:prstGeom>
          <a:solidFill>
            <a:srgbClr val="1A56DB"/>
          </a:solidFill>
          <a:ln/>
        </p:spPr>
      </p:sp>
      <p:sp>
        <p:nvSpPr>
          <p:cNvPr id="26" name="Text 24"/>
          <p:cNvSpPr/>
          <p:nvPr/>
        </p:nvSpPr>
        <p:spPr>
          <a:xfrm>
            <a:off x="2889504" y="290779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from syllabus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688336" y="3401568"/>
            <a:ext cx="128016" cy="128016"/>
          </a:xfrm>
          <a:prstGeom prst="ellipse">
            <a:avLst/>
          </a:prstGeom>
          <a:solidFill>
            <a:srgbClr val="1A56DB"/>
          </a:solidFill>
          <a:ln/>
        </p:spPr>
      </p:sp>
      <p:sp>
        <p:nvSpPr>
          <p:cNvPr id="28" name="Text 26"/>
          <p:cNvSpPr/>
          <p:nvPr/>
        </p:nvSpPr>
        <p:spPr>
          <a:xfrm>
            <a:off x="2889504" y="336499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on real data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73168" y="1115568"/>
            <a:ext cx="210312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18">
                <a:alpha val="7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73168" y="1115568"/>
            <a:ext cx="2103120" cy="566928"/>
          </a:xfrm>
          <a:prstGeom prst="rect">
            <a:avLst/>
          </a:prstGeom>
          <a:solidFill>
            <a:srgbClr val="0E9F6E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0" y="1170432"/>
            <a:ext cx="6766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4773168" y="171907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9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773168" y="202996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+ Flask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956048" y="2340864"/>
            <a:ext cx="17373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974336" y="2487168"/>
            <a:ext cx="128016" cy="128016"/>
          </a:xfrm>
          <a:prstGeom prst="ellipse">
            <a:avLst/>
          </a:prstGeom>
          <a:solidFill>
            <a:srgbClr val="0E9F6E"/>
          </a:solidFill>
          <a:ln/>
        </p:spPr>
      </p:sp>
      <p:sp>
        <p:nvSpPr>
          <p:cNvPr id="36" name="Text 34"/>
          <p:cNvSpPr/>
          <p:nvPr/>
        </p:nvSpPr>
        <p:spPr>
          <a:xfrm>
            <a:off x="5175504" y="245059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30+ REST endpoints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974336" y="2944368"/>
            <a:ext cx="128016" cy="128016"/>
          </a:xfrm>
          <a:prstGeom prst="ellipse">
            <a:avLst/>
          </a:prstGeom>
          <a:solidFill>
            <a:srgbClr val="0E9F6E"/>
          </a:solidFill>
          <a:ln/>
        </p:spPr>
      </p:sp>
      <p:sp>
        <p:nvSpPr>
          <p:cNvPr id="38" name="Text 36"/>
          <p:cNvSpPr/>
          <p:nvPr/>
        </p:nvSpPr>
        <p:spPr>
          <a:xfrm>
            <a:off x="5175504" y="290779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API + cache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974336" y="3401568"/>
            <a:ext cx="128016" cy="128016"/>
          </a:xfrm>
          <a:prstGeom prst="ellipse">
            <a:avLst/>
          </a:prstGeom>
          <a:solidFill>
            <a:srgbClr val="0E9F6E"/>
          </a:solidFill>
          <a:ln/>
        </p:spPr>
      </p:sp>
      <p:sp>
        <p:nvSpPr>
          <p:cNvPr id="40" name="Text 38"/>
          <p:cNvSpPr/>
          <p:nvPr/>
        </p:nvSpPr>
        <p:spPr>
          <a:xfrm>
            <a:off x="5175504" y="336499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panel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7059168" y="1115568"/>
            <a:ext cx="210312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18">
                <a:alpha val="7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7059168" y="1115568"/>
            <a:ext cx="2103120" cy="56692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3" name="Text 41"/>
          <p:cNvSpPr/>
          <p:nvPr/>
        </p:nvSpPr>
        <p:spPr>
          <a:xfrm>
            <a:off x="7772400" y="1170432"/>
            <a:ext cx="6766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7059168" y="171907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7059168" y="202996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Vanilla JS SPA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7242048" y="2340864"/>
            <a:ext cx="17373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260336" y="2487168"/>
            <a:ext cx="128016" cy="128016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48" name="Text 46"/>
          <p:cNvSpPr/>
          <p:nvPr/>
        </p:nvSpPr>
        <p:spPr>
          <a:xfrm>
            <a:off x="7461504" y="245059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dashboard tabs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7260336" y="2944368"/>
            <a:ext cx="128016" cy="128016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50" name="Text 48"/>
          <p:cNvSpPr/>
          <p:nvPr/>
        </p:nvSpPr>
        <p:spPr>
          <a:xfrm>
            <a:off x="7461504" y="290779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Chart.js visuals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7260336" y="3401568"/>
            <a:ext cx="128016" cy="128016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52" name="Text 50"/>
          <p:cNvSpPr/>
          <p:nvPr/>
        </p:nvSpPr>
        <p:spPr>
          <a:xfrm>
            <a:off x="7461504" y="336499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generator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32688"/>
            <a:ext cx="914400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Database Design — Schema &amp; Engineering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01168" y="1170432"/>
            <a:ext cx="1993392" cy="16276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15">
                <a:alpha val="7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01168" y="1170432"/>
            <a:ext cx="1993392" cy="402336"/>
          </a:xfrm>
          <a:prstGeom prst="rect">
            <a:avLst/>
          </a:prstGeom>
          <a:solidFill>
            <a:srgbClr val="0E9F6E"/>
          </a:solidFill>
          <a:ln/>
        </p:spPr>
      </p:sp>
      <p:sp>
        <p:nvSpPr>
          <p:cNvPr id="7" name="Text 5"/>
          <p:cNvSpPr/>
          <p:nvPr/>
        </p:nvSpPr>
        <p:spPr>
          <a:xfrm>
            <a:off x="201168" y="1188720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STADIUM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92608" y="1645920"/>
            <a:ext cx="1810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city · pitch_type · ends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377440" y="1170432"/>
            <a:ext cx="1993392" cy="16276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15">
                <a:alpha val="7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377440" y="1170432"/>
            <a:ext cx="1993392" cy="402336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1" name="Text 9"/>
          <p:cNvSpPr/>
          <p:nvPr/>
        </p:nvSpPr>
        <p:spPr>
          <a:xfrm>
            <a:off x="2377440" y="1188720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468880" y="1645920"/>
            <a:ext cx="1810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· wins · losses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53712" y="1170432"/>
            <a:ext cx="1993392" cy="16276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15">
                <a:alpha val="7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53712" y="1170432"/>
            <a:ext cx="1993392" cy="402336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15" name="Text 13"/>
          <p:cNvSpPr/>
          <p:nvPr/>
        </p:nvSpPr>
        <p:spPr>
          <a:xfrm>
            <a:off x="4553712" y="1188720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PLAYER ★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645152" y="1645920"/>
            <a:ext cx="1810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 cols: aggregates +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splits + wicket types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729984" y="1170432"/>
            <a:ext cx="1993392" cy="16276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15">
                <a:alpha val="7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729984" y="1170432"/>
            <a:ext cx="1993392" cy="402336"/>
          </a:xfrm>
          <a:prstGeom prst="rect">
            <a:avLst/>
          </a:prstGeom>
          <a:solidFill>
            <a:srgbClr val="0E9F6E"/>
          </a:solidFill>
          <a:ln/>
        </p:spPr>
      </p:sp>
      <p:sp>
        <p:nvSpPr>
          <p:cNvPr id="19" name="Text 17"/>
          <p:cNvSpPr/>
          <p:nvPr/>
        </p:nvSpPr>
        <p:spPr>
          <a:xfrm>
            <a:off x="6729984" y="1188720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MATCHES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821424" y="1645920"/>
            <a:ext cx="1810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toss · winner · scores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01168" y="3017520"/>
            <a:ext cx="1993392" cy="16276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15">
                <a:alpha val="7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01168" y="3017520"/>
            <a:ext cx="1993392" cy="402336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3" name="Text 21"/>
          <p:cNvSpPr/>
          <p:nvPr/>
        </p:nvSpPr>
        <p:spPr>
          <a:xfrm>
            <a:off x="201168" y="3035808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INNINGS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92608" y="3493008"/>
            <a:ext cx="1810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PP/Mid/Death per innings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377440" y="3017520"/>
            <a:ext cx="1993392" cy="16276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15">
                <a:alpha val="7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377440" y="3017520"/>
            <a:ext cx="1993392" cy="402336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27" name="Text 25"/>
          <p:cNvSpPr/>
          <p:nvPr/>
        </p:nvSpPr>
        <p:spPr>
          <a:xfrm>
            <a:off x="2377440" y="3035808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PLAYER_MATCH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468880" y="3493008"/>
            <a:ext cx="1810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per-player per-match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553712" y="3017520"/>
            <a:ext cx="1993392" cy="16276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15">
                <a:alpha val="7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53712" y="3017520"/>
            <a:ext cx="1993392" cy="402336"/>
          </a:xfrm>
          <a:prstGeom prst="rect">
            <a:avLst/>
          </a:prstGeom>
          <a:solidFill>
            <a:srgbClr val="0E9F6E"/>
          </a:solidFill>
          <a:ln/>
        </p:spPr>
      </p:sp>
      <p:sp>
        <p:nvSpPr>
          <p:cNvPr id="31" name="Text 29"/>
          <p:cNvSpPr/>
          <p:nvPr/>
        </p:nvSpPr>
        <p:spPr>
          <a:xfrm>
            <a:off x="4553712" y="3035808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PARTNERSHIP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645152" y="3493008"/>
            <a:ext cx="1810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 · p2 · runs · balls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729984" y="3017520"/>
            <a:ext cx="1993392" cy="16276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15">
                <a:alpha val="7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729984" y="3017520"/>
            <a:ext cx="1993392" cy="402336"/>
          </a:xfrm>
          <a:prstGeom prst="rect">
            <a:avLst/>
          </a:prstGeom>
          <a:solidFill>
            <a:srgbClr val="9CA3AF"/>
          </a:solidFill>
          <a:ln/>
        </p:spPr>
      </p:sp>
      <p:sp>
        <p:nvSpPr>
          <p:cNvPr id="35" name="Text 33"/>
          <p:cNvSpPr/>
          <p:nvPr/>
        </p:nvSpPr>
        <p:spPr>
          <a:xfrm>
            <a:off x="6729984" y="3035808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api_cache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821424" y="3493008"/>
            <a:ext cx="1810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TTL cache for APIs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01168" y="4572000"/>
            <a:ext cx="8741664" cy="384048"/>
          </a:xfrm>
          <a:prstGeom prst="rect">
            <a:avLst/>
          </a:prstGeom>
          <a:solidFill>
            <a:srgbClr val="0D1B2A">
              <a:alpha val="9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274320" y="461772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AUTO TRIGGER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011680" y="461772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WINDOW FUNCTIONS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49040" y="461772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 7 SQL VIEWS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486400" y="461772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FOREIGN KEY CASCADE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223760" y="461772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3NF NORMALIZED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32688"/>
            <a:ext cx="914400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Advanced DBMS — Trigger + Window Function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01168" y="1115568"/>
            <a:ext cx="4279392" cy="374904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6" name="Shape 4"/>
          <p:cNvSpPr/>
          <p:nvPr/>
        </p:nvSpPr>
        <p:spPr>
          <a:xfrm>
            <a:off x="201168" y="1115568"/>
            <a:ext cx="4279392" cy="329184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152144"/>
            <a:ext cx="4133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⚡  DB TRIGGER — trg_UpdatePlayerStats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4320" y="1517904"/>
            <a:ext cx="413308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TRIGGER trg_UpdatePlayerStats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AFTER INSERT ON PLAYER_MATCH_STATS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UPDATE PLAYER SET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no_of_totalruns =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no_of_totalruns + NEW.runs_scored,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no_of_wickets =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no_of_wickets + NEW.wickets,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no_of_50s = no_of_50s +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CASE WHEN NEW.runs&gt;=50 THEN 1 ELSE 0 END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WHERE player_id = NEW.player_id;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END;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01168" y="4736592"/>
            <a:ext cx="4279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0E9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Fires automatically on every admin stat insert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63440" y="1115568"/>
            <a:ext cx="4279392" cy="374904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11" name="Shape 9"/>
          <p:cNvSpPr/>
          <p:nvPr/>
        </p:nvSpPr>
        <p:spPr>
          <a:xfrm>
            <a:off x="4663440" y="1115568"/>
            <a:ext cx="4279392" cy="329184"/>
          </a:xfrm>
          <a:prstGeom prst="rect">
            <a:avLst/>
          </a:prstGeom>
          <a:solidFill>
            <a:srgbClr val="0E9F6E"/>
          </a:solidFill>
          <a:ln/>
        </p:spPr>
      </p:sp>
      <p:sp>
        <p:nvSpPr>
          <p:cNvPr id="12" name="Text 10"/>
          <p:cNvSpPr/>
          <p:nvPr/>
        </p:nvSpPr>
        <p:spPr>
          <a:xfrm>
            <a:off x="4736592" y="1152144"/>
            <a:ext cx="4133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📈  SQL WINDOW — vw_MovingAverage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36592" y="1517904"/>
            <a:ext cx="413308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VIEW vw_MovingAverage AS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player_id,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match_date,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runs_scored,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AVG(runs_scored) OVER 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PARTITION BY player_id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ORDER BY match_date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ROWS BETWEEN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4 PRECEDING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AND CURRENT ROW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 AS rolling_avg_5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PLAYER_MATCH_STATS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MATCHES USING (match_id);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663440" y="4736592"/>
            <a:ext cx="4279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0E9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Plotted as form curve in player profile modal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32688"/>
            <a:ext cx="914400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DAA Algorithms — All 6 Implemented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01168" y="1115568"/>
            <a:ext cx="2798064" cy="168249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15">
                <a:alpha val="7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01168" y="1115568"/>
            <a:ext cx="2798064" cy="4572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7" name="Text 5"/>
          <p:cNvSpPr/>
          <p:nvPr/>
        </p:nvSpPr>
        <p:spPr>
          <a:xfrm>
            <a:off x="292608" y="120700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76656" y="1207008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Prefix Trie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92608" y="1627632"/>
            <a:ext cx="914400" cy="201168"/>
          </a:xfrm>
          <a:prstGeom prst="roundRect">
            <a:avLst/>
          </a:prstGeom>
          <a:solidFill>
            <a:srgbClr val="0D1B2A">
              <a:alpha val="2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292608" y="16276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280160" y="162763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O(M) lookup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92608" y="1901952"/>
            <a:ext cx="26151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Autocomplete search bar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163824" y="1115568"/>
            <a:ext cx="2798064" cy="168249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15">
                <a:alpha val="7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63824" y="1115568"/>
            <a:ext cx="2798064" cy="45720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15" name="Text 13"/>
          <p:cNvSpPr/>
          <p:nvPr/>
        </p:nvSpPr>
        <p:spPr>
          <a:xfrm>
            <a:off x="3255264" y="120700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39312" y="1207008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BFS on Graph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255264" y="1627632"/>
            <a:ext cx="914400" cy="201168"/>
          </a:xfrm>
          <a:prstGeom prst="roundRect">
            <a:avLst/>
          </a:prstGeom>
          <a:solidFill>
            <a:srgbClr val="1A56DB">
              <a:alpha val="2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3255264" y="16276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56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U4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242816" y="162763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O(V+E)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255264" y="1901952"/>
            <a:ext cx="26151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Player degrees of separation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26480" y="1115568"/>
            <a:ext cx="2798064" cy="168249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15">
                <a:alpha val="7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26480" y="1115568"/>
            <a:ext cx="2798064" cy="457200"/>
          </a:xfrm>
          <a:prstGeom prst="rect">
            <a:avLst/>
          </a:prstGeom>
          <a:solidFill>
            <a:srgbClr val="0E9F6E"/>
          </a:solidFill>
          <a:ln/>
        </p:spPr>
      </p:sp>
      <p:sp>
        <p:nvSpPr>
          <p:cNvPr id="23" name="Text 21"/>
          <p:cNvSpPr/>
          <p:nvPr/>
        </p:nvSpPr>
        <p:spPr>
          <a:xfrm>
            <a:off x="6217920" y="120700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601968" y="1207008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Merge Sort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217920" y="1627632"/>
            <a:ext cx="914400" cy="201168"/>
          </a:xfrm>
          <a:prstGeom prst="roundRect">
            <a:avLst/>
          </a:prstGeom>
          <a:solidFill>
            <a:srgbClr val="0E9F6E">
              <a:alpha val="2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6217920" y="16276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9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U2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205472" y="162763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O(N log N)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217920" y="1901952"/>
            <a:ext cx="26151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 by Impact leaderboard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01168" y="3017520"/>
            <a:ext cx="2798064" cy="168249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15">
                <a:alpha val="7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01168" y="3017520"/>
            <a:ext cx="2798064" cy="4572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1" name="Text 29"/>
          <p:cNvSpPr/>
          <p:nvPr/>
        </p:nvSpPr>
        <p:spPr>
          <a:xfrm>
            <a:off x="292608" y="3108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76656" y="3108960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Kadane's Algorithm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292608" y="3529584"/>
            <a:ext cx="914400" cy="201168"/>
          </a:xfrm>
          <a:prstGeom prst="roundRect">
            <a:avLst/>
          </a:prstGeom>
          <a:solidFill>
            <a:srgbClr val="D97706">
              <a:alpha val="2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292608" y="352958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U2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280160" y="352958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O(N)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92608" y="3803904"/>
            <a:ext cx="26151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 form phase detection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163824" y="3017520"/>
            <a:ext cx="2798064" cy="168249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15">
                <a:alpha val="7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163824" y="3017520"/>
            <a:ext cx="2798064" cy="4572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9" name="Text 37"/>
          <p:cNvSpPr/>
          <p:nvPr/>
        </p:nvSpPr>
        <p:spPr>
          <a:xfrm>
            <a:off x="3255264" y="3108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639312" y="3108960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Rabin-Karp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3255264" y="3529584"/>
            <a:ext cx="914400" cy="201168"/>
          </a:xfrm>
          <a:prstGeom prst="roundRect">
            <a:avLst/>
          </a:prstGeom>
          <a:solidFill>
            <a:srgbClr val="DC2626">
              <a:alpha val="20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3255264" y="352958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U5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242816" y="352958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O(N·M) worst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255264" y="3803904"/>
            <a:ext cx="26151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substring player search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126480" y="3017520"/>
            <a:ext cx="2798064" cy="168249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15">
                <a:alpha val="7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126480" y="3017520"/>
            <a:ext cx="2798064" cy="45720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47" name="Text 45"/>
          <p:cNvSpPr/>
          <p:nvPr/>
        </p:nvSpPr>
        <p:spPr>
          <a:xfrm>
            <a:off x="6217920" y="3108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601968" y="3108960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0/1 Knapsack DP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6217920" y="3529584"/>
            <a:ext cx="914400" cy="201168"/>
          </a:xfrm>
          <a:prstGeom prst="roundRect">
            <a:avLst/>
          </a:prstGeom>
          <a:solidFill>
            <a:srgbClr val="1A56DB">
              <a:alpha val="20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6217920" y="352958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56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U3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7205472" y="352958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O(N·W) per role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217920" y="3803904"/>
            <a:ext cx="26151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Fantasy squad auto-fill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32688"/>
            <a:ext cx="914400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DAA Deep Dive — Trie &amp; BFS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01168" y="1115568"/>
            <a:ext cx="4206240" cy="374904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6" name="Shape 4"/>
          <p:cNvSpPr/>
          <p:nvPr/>
        </p:nvSpPr>
        <p:spPr>
          <a:xfrm>
            <a:off x="201168" y="1115568"/>
            <a:ext cx="4206240" cy="34747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152144"/>
            <a:ext cx="4059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 TRIE — O(M) Prefix Search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74320" y="1536192"/>
            <a:ext cx="4059936" cy="3255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PlayerTrie: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def insert(self, name, data):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node = self.root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ch in name.lower():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if ch not in node.children: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node.children[ch]=TrieNode()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node = node.children[ch]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node.is_end = True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node.player_data = data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def search(self, prefix):  # O(M)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node = self.root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ch in prefix.lower():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if ch not in node.children: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[]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node = node.children[ch]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self._collect(node)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736592" y="1115568"/>
            <a:ext cx="4206240" cy="374904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10" name="Shape 8"/>
          <p:cNvSpPr/>
          <p:nvPr/>
        </p:nvSpPr>
        <p:spPr>
          <a:xfrm>
            <a:off x="4736592" y="1115568"/>
            <a:ext cx="4206240" cy="347472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11" name="Text 9"/>
          <p:cNvSpPr/>
          <p:nvPr/>
        </p:nvSpPr>
        <p:spPr>
          <a:xfrm>
            <a:off x="4809744" y="1152144"/>
            <a:ext cx="4059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🕸  BFS — Degrees of Separation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809744" y="1536192"/>
            <a:ext cx="4059936" cy="3255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shortest_path_bfs(graph,start,end):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visited = {start}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queue = deque([[start]])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while queue: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path = queue.popleft()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node = path[-1]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node == end: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return path  # shortest!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nb in graph.get(node,[]):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if nb not in visited: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visited.add(nb)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queue.append(path+[nb])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None  # no path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Graph built from PARTNERSHIP table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adjacency list: player→[partners]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O(V + E) guaranteed shortest path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32688"/>
            <a:ext cx="914400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DAA Deep Dive — Merge Sort &amp; Kadane's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01168" y="1115568"/>
            <a:ext cx="4206240" cy="374904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6" name="Shape 4"/>
          <p:cNvSpPr/>
          <p:nvPr/>
        </p:nvSpPr>
        <p:spPr>
          <a:xfrm>
            <a:off x="201168" y="1115568"/>
            <a:ext cx="4206240" cy="347472"/>
          </a:xfrm>
          <a:prstGeom prst="rect">
            <a:avLst/>
          </a:prstGeom>
          <a:solidFill>
            <a:srgbClr val="0E9F6E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152144"/>
            <a:ext cx="4059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 MERGE SORT — Sort by Impact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74320" y="1536192"/>
            <a:ext cx="4059936" cy="3255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impact_score(p):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bat = (p['runs']*p['sr'])/100.0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bowl= (p['wkts']*25*(120/p['eco']))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bat + bowl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merge_sort_impact(arr):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len(arr) &lt;= 1: return arr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mid = len(arr)//2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 = merge_sort_impact(arr[:mid])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 = merge_sort_impact(arr[mid:])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merge(L, R)  # by impact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O(N log N) — divide &amp; conquer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Used on Players tab: Sort by Impact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736592" y="1115568"/>
            <a:ext cx="4206240" cy="374904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10" name="Shape 8"/>
          <p:cNvSpPr/>
          <p:nvPr/>
        </p:nvSpPr>
        <p:spPr>
          <a:xfrm>
            <a:off x="4736592" y="1115568"/>
            <a:ext cx="4206240" cy="34747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1" name="Text 9"/>
          <p:cNvSpPr/>
          <p:nvPr/>
        </p:nvSpPr>
        <p:spPr>
          <a:xfrm>
            <a:off x="4809744" y="1152144"/>
            <a:ext cx="4059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 KADANE'S — Peak Form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809744" y="1536192"/>
            <a:ext cx="4059936" cy="3255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max_subarray_peak(scores):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Kadane's Algorithm O(N)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max_s = cur_s = scores[0]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start = end = temp = 0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i in range(1, len(scores)):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cur_s + scores[i] &lt; scores[i]: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cur_s = scores[i]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temp = i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cur_s += scores[i]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cur_s &gt; max_s: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max_s = cur_s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start = temp; end = i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max_s, start, end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Output: 'Peak Form' badge in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player profile modal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32688"/>
            <a:ext cx="914400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DAA Deep Dive — Rabin-Karp &amp; 0/1 Knapsack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01168" y="1115568"/>
            <a:ext cx="4206240" cy="374904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6" name="Shape 4"/>
          <p:cNvSpPr/>
          <p:nvPr/>
        </p:nvSpPr>
        <p:spPr>
          <a:xfrm>
            <a:off x="201168" y="1115568"/>
            <a:ext cx="4206240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152144"/>
            <a:ext cx="4059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🔎  RABIN-KARP — String Search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74320" y="1536192"/>
            <a:ext cx="4059936" cy="3255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rabin_karp(text, pattern,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base=31, mod=10**9+7):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n,m = len(text),len(pattern)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p_hash=t_hash=h=1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i in range(m-1):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h=(h*base)%mod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i in range(m):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p_hash=(base*p_hash+ord(pattern[i]))%mod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t_hash=(base*t_hash+ord(text[i]))%mod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matches=[]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i in range(n-m+1):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p_hash==t_hash: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if text[i:i+m]==pattern: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matches.append(i)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i&lt;n-m: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t_hash=(base*(t_hash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-ord(text[i])*h)+ord(text[i+m]))%mod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matches</a:t>
            </a:r>
            <a:endParaRPr lang="en-US" sz="780" dirty="0"/>
          </a:p>
        </p:txBody>
      </p:sp>
      <p:sp>
        <p:nvSpPr>
          <p:cNvPr id="9" name="Shape 7"/>
          <p:cNvSpPr/>
          <p:nvPr/>
        </p:nvSpPr>
        <p:spPr>
          <a:xfrm>
            <a:off x="4736592" y="1115568"/>
            <a:ext cx="4206240" cy="374904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10" name="Shape 8"/>
          <p:cNvSpPr/>
          <p:nvPr/>
        </p:nvSpPr>
        <p:spPr>
          <a:xfrm>
            <a:off x="4736592" y="1115568"/>
            <a:ext cx="4206240" cy="347472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11" name="Text 9"/>
          <p:cNvSpPr/>
          <p:nvPr/>
        </p:nvSpPr>
        <p:spPr>
          <a:xfrm>
            <a:off x="4809744" y="1152144"/>
            <a:ext cx="4059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 0/1 KNAPSACK DP — Squad Builder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09744" y="1536192"/>
            <a:ext cx="4059936" cy="3255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Constrained: 5 batters + 5 bowlers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          + 1 WK  = 11 players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Budget: 100 Cr  |  Maximize: value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knapsack_dp(players, budget, n):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dp[i][j] = max value using i players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           within j budget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dp = [[0]*(budget+1) for _ in range(n+1)]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p in players: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i in range(n,0,-1):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for w in range(budget,p.cost-1,-1):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dp[i][w]=max(dp[i][w],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dp[i-1][w-p.cost]+p.value)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backtrack(dp, players, n, budget)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Run 3 times: bats, bowls, keepers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Combine via Divide &amp; Conquer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32688"/>
            <a:ext cx="914400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Dashboard — 10 Tabs Overview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01168" y="1170432"/>
            <a:ext cx="1609344" cy="13533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12">
                <a:alpha val="7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01168" y="1170432"/>
            <a:ext cx="1609344" cy="310896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7" name="Text 5"/>
          <p:cNvSpPr/>
          <p:nvPr/>
        </p:nvSpPr>
        <p:spPr>
          <a:xfrm>
            <a:off x="201168" y="1207008"/>
            <a:ext cx="1609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74320" y="1572768"/>
            <a:ext cx="1463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Stats cards + champion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956816" y="1170432"/>
            <a:ext cx="1609344" cy="13533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12">
                <a:alpha val="7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956816" y="1170432"/>
            <a:ext cx="1609344" cy="310896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11" name="Text 9"/>
          <p:cNvSpPr/>
          <p:nvPr/>
        </p:nvSpPr>
        <p:spPr>
          <a:xfrm>
            <a:off x="1956816" y="1207008"/>
            <a:ext cx="1609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Standings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029968" y="1572768"/>
            <a:ext cx="1463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Points table + staff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712464" y="1170432"/>
            <a:ext cx="1609344" cy="13533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12">
                <a:alpha val="7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712464" y="1170432"/>
            <a:ext cx="1609344" cy="310896"/>
          </a:xfrm>
          <a:prstGeom prst="rect">
            <a:avLst/>
          </a:prstGeom>
          <a:solidFill>
            <a:srgbClr val="0E9F6E"/>
          </a:solidFill>
          <a:ln/>
        </p:spPr>
      </p:sp>
      <p:sp>
        <p:nvSpPr>
          <p:cNvPr id="15" name="Text 13"/>
          <p:cNvSpPr/>
          <p:nvPr/>
        </p:nvSpPr>
        <p:spPr>
          <a:xfrm>
            <a:off x="3712464" y="1207008"/>
            <a:ext cx="1609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Matches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785616" y="1572768"/>
            <a:ext cx="1463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H2H + match modals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68112" y="1170432"/>
            <a:ext cx="1609344" cy="13533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12">
                <a:alpha val="7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68112" y="1170432"/>
            <a:ext cx="1609344" cy="310896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9" name="Text 17"/>
          <p:cNvSpPr/>
          <p:nvPr/>
        </p:nvSpPr>
        <p:spPr>
          <a:xfrm>
            <a:off x="5468112" y="1207008"/>
            <a:ext cx="1609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Players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541264" y="1572768"/>
            <a:ext cx="1463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Leaderboards + profiles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223760" y="1170432"/>
            <a:ext cx="1609344" cy="13533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12">
                <a:alpha val="7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223760" y="1170432"/>
            <a:ext cx="1609344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3" name="Text 21"/>
          <p:cNvSpPr/>
          <p:nvPr/>
        </p:nvSpPr>
        <p:spPr>
          <a:xfrm>
            <a:off x="7223760" y="1207008"/>
            <a:ext cx="1609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296912" y="1572768"/>
            <a:ext cx="1463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Chart.js visualizations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01168" y="2706624"/>
            <a:ext cx="1609344" cy="13533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12">
                <a:alpha val="7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01168" y="2706624"/>
            <a:ext cx="1609344" cy="310896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7" name="Text 25"/>
          <p:cNvSpPr/>
          <p:nvPr/>
        </p:nvSpPr>
        <p:spPr>
          <a:xfrm>
            <a:off x="201168" y="2743200"/>
            <a:ext cx="1609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Analysis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74320" y="3108960"/>
            <a:ext cx="1463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PP/Mid/Death sparklines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1956816" y="2706624"/>
            <a:ext cx="1609344" cy="13533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12">
                <a:alpha val="7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956816" y="2706624"/>
            <a:ext cx="1609344" cy="310896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31" name="Text 29"/>
          <p:cNvSpPr/>
          <p:nvPr/>
        </p:nvSpPr>
        <p:spPr>
          <a:xfrm>
            <a:off x="1956816" y="2743200"/>
            <a:ext cx="1609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2029968" y="3108960"/>
            <a:ext cx="1463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Venue statistics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712464" y="2706624"/>
            <a:ext cx="1609344" cy="13533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12">
                <a:alpha val="7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712464" y="2706624"/>
            <a:ext cx="1609344" cy="310896"/>
          </a:xfrm>
          <a:prstGeom prst="rect">
            <a:avLst/>
          </a:prstGeom>
          <a:solidFill>
            <a:srgbClr val="0E9F6E"/>
          </a:solidFill>
          <a:ln/>
        </p:spPr>
      </p:sp>
      <p:sp>
        <p:nvSpPr>
          <p:cNvPr id="35" name="Text 33"/>
          <p:cNvSpPr/>
          <p:nvPr/>
        </p:nvSpPr>
        <p:spPr>
          <a:xfrm>
            <a:off x="3712464" y="2743200"/>
            <a:ext cx="1609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Partnerships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3785616" y="3108960"/>
            <a:ext cx="1463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BFS network graph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468112" y="2706624"/>
            <a:ext cx="1609344" cy="13533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12">
                <a:alpha val="7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468112" y="2706624"/>
            <a:ext cx="1609344" cy="310896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9" name="Text 37"/>
          <p:cNvSpPr/>
          <p:nvPr/>
        </p:nvSpPr>
        <p:spPr>
          <a:xfrm>
            <a:off x="5468112" y="2743200"/>
            <a:ext cx="1609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541264" y="3108960"/>
            <a:ext cx="1463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Cricbuzz API scores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7223760" y="2706624"/>
            <a:ext cx="1609344" cy="13533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12">
                <a:alpha val="7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7223760" y="2706624"/>
            <a:ext cx="1609344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3" name="Text 41"/>
          <p:cNvSpPr/>
          <p:nvPr/>
        </p:nvSpPr>
        <p:spPr>
          <a:xfrm>
            <a:off x="7223760" y="2743200"/>
            <a:ext cx="1609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Fantasy Team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7296912" y="3108960"/>
            <a:ext cx="1463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Knapsack DP squad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201168" y="4663440"/>
            <a:ext cx="87416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Screenshot placeholder — paste actual screenshots above each tab card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32688"/>
            <a:ext cx="914400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 Tab + REST API Architecture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01168" y="1115568"/>
            <a:ext cx="374904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15">
                <a:alpha val="7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92608" y="118872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🟢  LIVE TAB FLOW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10896" y="1664208"/>
            <a:ext cx="274320" cy="274320"/>
          </a:xfrm>
          <a:prstGeom prst="ellipse">
            <a:avLst/>
          </a:prstGeom>
          <a:solidFill>
            <a:srgbClr val="1A56DB"/>
          </a:solidFill>
          <a:ln/>
        </p:spPr>
      </p:sp>
      <p:sp>
        <p:nvSpPr>
          <p:cNvPr id="8" name="Text 6"/>
          <p:cNvSpPr/>
          <p:nvPr/>
        </p:nvSpPr>
        <p:spPr>
          <a:xfrm>
            <a:off x="310896" y="16642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76656" y="1682496"/>
            <a:ext cx="3127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opens Live tab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0896" y="2084832"/>
            <a:ext cx="274320" cy="274320"/>
          </a:xfrm>
          <a:prstGeom prst="ellipse">
            <a:avLst/>
          </a:prstGeom>
          <a:solidFill>
            <a:srgbClr val="1A56DB"/>
          </a:solidFill>
          <a:ln/>
        </p:spPr>
      </p:sp>
      <p:sp>
        <p:nvSpPr>
          <p:cNvPr id="11" name="Text 9"/>
          <p:cNvSpPr/>
          <p:nvPr/>
        </p:nvSpPr>
        <p:spPr>
          <a:xfrm>
            <a:off x="310896" y="20848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76656" y="2103120"/>
            <a:ext cx="3127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/api/live called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10896" y="2505456"/>
            <a:ext cx="274320" cy="274320"/>
          </a:xfrm>
          <a:prstGeom prst="ellipse">
            <a:avLst/>
          </a:prstGeom>
          <a:solidFill>
            <a:srgbClr val="0E9F6E"/>
          </a:solidFill>
          <a:ln/>
        </p:spPr>
      </p:sp>
      <p:sp>
        <p:nvSpPr>
          <p:cNvPr id="14" name="Text 12"/>
          <p:cNvSpPr/>
          <p:nvPr/>
        </p:nvSpPr>
        <p:spPr>
          <a:xfrm>
            <a:off x="310896" y="25054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76656" y="2523744"/>
            <a:ext cx="3127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api_cache (TTL 5 min)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10896" y="2926080"/>
            <a:ext cx="274320" cy="274320"/>
          </a:xfrm>
          <a:prstGeom prst="ellipse">
            <a:avLst/>
          </a:prstGeom>
          <a:solidFill>
            <a:srgbClr val="0E9F6E"/>
          </a:solidFill>
          <a:ln/>
        </p:spPr>
      </p:sp>
      <p:sp>
        <p:nvSpPr>
          <p:cNvPr id="17" name="Text 15"/>
          <p:cNvSpPr/>
          <p:nvPr/>
        </p:nvSpPr>
        <p:spPr>
          <a:xfrm>
            <a:off x="310896" y="2926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76656" y="2944368"/>
            <a:ext cx="3127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 hit → return instantly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10896" y="3346704"/>
            <a:ext cx="274320" cy="27432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0" name="Text 18"/>
          <p:cNvSpPr/>
          <p:nvPr/>
        </p:nvSpPr>
        <p:spPr>
          <a:xfrm>
            <a:off x="310896" y="33467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76656" y="3364992"/>
            <a:ext cx="3127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 miss → Cricbuzz API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10896" y="3767328"/>
            <a:ext cx="274320" cy="27432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3" name="Text 21"/>
          <p:cNvSpPr/>
          <p:nvPr/>
        </p:nvSpPr>
        <p:spPr>
          <a:xfrm>
            <a:off x="310896" y="37673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76656" y="3785616"/>
            <a:ext cx="3127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fails → SQLite mock fallback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10896" y="4187952"/>
            <a:ext cx="274320" cy="274320"/>
          </a:xfrm>
          <a:prstGeom prst="ellipse">
            <a:avLst/>
          </a:prstGeom>
          <a:solidFill>
            <a:srgbClr val="1A56DB"/>
          </a:solidFill>
          <a:ln/>
        </p:spPr>
      </p:sp>
      <p:sp>
        <p:nvSpPr>
          <p:cNvPr id="26" name="Text 24"/>
          <p:cNvSpPr/>
          <p:nvPr/>
        </p:nvSpPr>
        <p:spPr>
          <a:xfrm>
            <a:off x="310896" y="41879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76656" y="4206240"/>
            <a:ext cx="3127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 rendered as cards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206240" y="1115568"/>
            <a:ext cx="4736592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15">
                <a:alpha val="7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297680" y="1188720"/>
            <a:ext cx="4553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API — Key Endpoints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297680" y="1609344"/>
            <a:ext cx="54864" cy="219456"/>
          </a:xfrm>
          <a:prstGeom prst="rect">
            <a:avLst/>
          </a:prstGeom>
          <a:solidFill>
            <a:srgbClr val="0E9F6E"/>
          </a:solidFill>
          <a:ln/>
        </p:spPr>
      </p:sp>
      <p:sp>
        <p:nvSpPr>
          <p:cNvPr id="31" name="Text 29"/>
          <p:cNvSpPr/>
          <p:nvPr/>
        </p:nvSpPr>
        <p:spPr>
          <a:xfrm>
            <a:off x="4425696" y="1609344"/>
            <a:ext cx="4425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/api/summary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297680" y="1929384"/>
            <a:ext cx="54864" cy="219456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3" name="Text 31"/>
          <p:cNvSpPr/>
          <p:nvPr/>
        </p:nvSpPr>
        <p:spPr>
          <a:xfrm>
            <a:off x="4425696" y="1929384"/>
            <a:ext cx="4425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/api/standings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297680" y="2249424"/>
            <a:ext cx="54864" cy="219456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5" name="Text 33"/>
          <p:cNvSpPr/>
          <p:nvPr/>
        </p:nvSpPr>
        <p:spPr>
          <a:xfrm>
            <a:off x="4425696" y="2249424"/>
            <a:ext cx="4425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/api/match/&lt;id&gt;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297680" y="2569464"/>
            <a:ext cx="54864" cy="219456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37" name="Text 35"/>
          <p:cNvSpPr/>
          <p:nvPr/>
        </p:nvSpPr>
        <p:spPr>
          <a:xfrm>
            <a:off x="4425696" y="2569464"/>
            <a:ext cx="4425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/api/player/&lt;id&gt;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297680" y="2889504"/>
            <a:ext cx="54864" cy="219456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39" name="Text 37"/>
          <p:cNvSpPr/>
          <p:nvPr/>
        </p:nvSpPr>
        <p:spPr>
          <a:xfrm>
            <a:off x="4425696" y="2889504"/>
            <a:ext cx="4425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/api/search_trie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297680" y="3209544"/>
            <a:ext cx="54864" cy="219456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41" name="Text 39"/>
          <p:cNvSpPr/>
          <p:nvPr/>
        </p:nvSpPr>
        <p:spPr>
          <a:xfrm>
            <a:off x="4425696" y="3209544"/>
            <a:ext cx="4425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/api/search_deep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297680" y="3529584"/>
            <a:ext cx="54864" cy="219456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3" name="Text 41"/>
          <p:cNvSpPr/>
          <p:nvPr/>
        </p:nvSpPr>
        <p:spPr>
          <a:xfrm>
            <a:off x="4425696" y="3529584"/>
            <a:ext cx="4425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/api/players/impact_sort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297680" y="3849624"/>
            <a:ext cx="54864" cy="219456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5" name="Text 43"/>
          <p:cNvSpPr/>
          <p:nvPr/>
        </p:nvSpPr>
        <p:spPr>
          <a:xfrm>
            <a:off x="4425696" y="3849624"/>
            <a:ext cx="4425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/api/player_network/path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297680" y="4169664"/>
            <a:ext cx="54864" cy="21945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7" name="Text 45"/>
          <p:cNvSpPr/>
          <p:nvPr/>
        </p:nvSpPr>
        <p:spPr>
          <a:xfrm>
            <a:off x="4425696" y="4169664"/>
            <a:ext cx="4425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/api/fantasy/autofill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297680" y="4489704"/>
            <a:ext cx="54864" cy="21945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7"/>
          <p:cNvSpPr/>
          <p:nvPr/>
        </p:nvSpPr>
        <p:spPr>
          <a:xfrm>
            <a:off x="4425696" y="4489704"/>
            <a:ext cx="4425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/api/live (+ fallback)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32688"/>
            <a:ext cx="914400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Fantasy Team — 0/1 Knapsack DP in Action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115568"/>
            <a:ext cx="2697480" cy="1280160"/>
          </a:xfrm>
          <a:prstGeom prst="rect">
            <a:avLst/>
          </a:prstGeom>
          <a:solidFill>
            <a:srgbClr val="0E9F6E">
              <a:alpha val="1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115568"/>
            <a:ext cx="2697480" cy="347472"/>
          </a:xfrm>
          <a:prstGeom prst="rect">
            <a:avLst/>
          </a:prstGeom>
          <a:solidFill>
            <a:srgbClr val="0E9F6E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152144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BATTERS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4320" y="1554480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E9F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 / 5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3246120" y="1115568"/>
            <a:ext cx="2697480" cy="1280160"/>
          </a:xfrm>
          <a:prstGeom prst="rect">
            <a:avLst/>
          </a:prstGeom>
          <a:solidFill>
            <a:srgbClr val="0D1B2A">
              <a:alpha val="1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3246120" y="1115568"/>
            <a:ext cx="2697480" cy="34747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1" name="Text 9"/>
          <p:cNvSpPr/>
          <p:nvPr/>
        </p:nvSpPr>
        <p:spPr>
          <a:xfrm>
            <a:off x="3246120" y="1152144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BOWLERS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46120" y="1554480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 / 5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6217920" y="1115568"/>
            <a:ext cx="2697480" cy="1280160"/>
          </a:xfrm>
          <a:prstGeom prst="rect">
            <a:avLst/>
          </a:prstGeom>
          <a:solidFill>
            <a:srgbClr val="D97706">
              <a:alpha val="12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217920" y="1115568"/>
            <a:ext cx="2697480" cy="34747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0" y="1152144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WK / AR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17920" y="1554480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977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 / 1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274320" y="2542032"/>
            <a:ext cx="8595360" cy="493776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" y="2578608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BUDGET:  ₹ 100.0 Cr    →    USED:  ₹ 97.4 Cr    →    REMAINING:  ₹ 2.6 Cr    |    TOTAL VALUE:  2,847 pts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74320" y="3145536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Algorithm Works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65760" y="354787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Assign Crore cost + impact value to every player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5760" y="384048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Run DP for batters: pick best 5 under sub-budget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65760" y="413308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Run DP for bowlers: pick best 5 under remaining budget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65760" y="4425696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Run DP for WK/AR: pick best 1 under final remaining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65760" y="4718304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Combine via Divide &amp; Conquer — return optimal 11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74320" y="4828032"/>
            <a:ext cx="8595360" cy="219456"/>
          </a:xfrm>
          <a:prstGeom prst="rect">
            <a:avLst/>
          </a:prstGeom>
          <a:solidFill>
            <a:srgbClr val="1A56DB">
              <a:alpha val="2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274320" y="4828032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Endpoint: GET /api/fantasy/autofill   —   Algorithm file: daa_algos.py :: constrained_knapsack_fantasy()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32688"/>
            <a:ext cx="914400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Analysis — CSS Sparklines Feature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row in the Phase Analysis tab displays a CSS-injected stacked bar showing the proportion of runs (batting) or wickets (bowling) across the three phases.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371600" y="1664208"/>
            <a:ext cx="274320" cy="2743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7" name="Text 5"/>
          <p:cNvSpPr/>
          <p:nvPr/>
        </p:nvSpPr>
        <p:spPr>
          <a:xfrm>
            <a:off x="1719072" y="16642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Powerplay (1–10)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1664208"/>
            <a:ext cx="274320" cy="274320"/>
          </a:xfrm>
          <a:prstGeom prst="rect">
            <a:avLst/>
          </a:prstGeom>
          <a:solidFill>
            <a:srgbClr val="EAB308"/>
          </a:solidFill>
          <a:ln/>
        </p:spPr>
      </p:sp>
      <p:sp>
        <p:nvSpPr>
          <p:cNvPr id="9" name="Text 7"/>
          <p:cNvSpPr/>
          <p:nvPr/>
        </p:nvSpPr>
        <p:spPr>
          <a:xfrm>
            <a:off x="4005072" y="16642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(11–40)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0" y="1664208"/>
            <a:ext cx="274320" cy="2743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1" name="Text 9"/>
          <p:cNvSpPr/>
          <p:nvPr/>
        </p:nvSpPr>
        <p:spPr>
          <a:xfrm>
            <a:off x="6291072" y="16642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Death (41–50)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74320" y="210312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Virat Kohli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377440" y="2194560"/>
            <a:ext cx="525929" cy="23774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903369" y="2194560"/>
            <a:ext cx="2629647" cy="237744"/>
          </a:xfrm>
          <a:prstGeom prst="rect">
            <a:avLst/>
          </a:prstGeom>
          <a:solidFill>
            <a:srgbClr val="EAB308"/>
          </a:solidFill>
          <a:ln/>
        </p:spPr>
      </p:sp>
      <p:sp>
        <p:nvSpPr>
          <p:cNvPr id="15" name="Shape 13"/>
          <p:cNvSpPr/>
          <p:nvPr/>
        </p:nvSpPr>
        <p:spPr>
          <a:xfrm>
            <a:off x="5533016" y="2194560"/>
            <a:ext cx="1416424" cy="23774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6" name="Text 14"/>
          <p:cNvSpPr/>
          <p:nvPr/>
        </p:nvSpPr>
        <p:spPr>
          <a:xfrm>
            <a:off x="7059168" y="2103120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765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808976" y="2103120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PP: 88   Mid: 440   Death: 237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74320" y="2615184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Babar Azam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377440" y="2706624"/>
            <a:ext cx="962526" cy="23774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0" name="Shape 18"/>
          <p:cNvSpPr/>
          <p:nvPr/>
        </p:nvSpPr>
        <p:spPr>
          <a:xfrm>
            <a:off x="3339966" y="2706624"/>
            <a:ext cx="2874211" cy="237744"/>
          </a:xfrm>
          <a:prstGeom prst="rect">
            <a:avLst/>
          </a:prstGeom>
          <a:solidFill>
            <a:srgbClr val="EAB308"/>
          </a:solidFill>
          <a:ln/>
        </p:spPr>
      </p:sp>
      <p:sp>
        <p:nvSpPr>
          <p:cNvPr id="21" name="Shape 19"/>
          <p:cNvSpPr/>
          <p:nvPr/>
        </p:nvSpPr>
        <p:spPr>
          <a:xfrm>
            <a:off x="6214177" y="2706624"/>
            <a:ext cx="735263" cy="23774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2" name="Text 20"/>
          <p:cNvSpPr/>
          <p:nvPr/>
        </p:nvSpPr>
        <p:spPr>
          <a:xfrm>
            <a:off x="7059168" y="2615184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347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808976" y="2615184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PP: 72   Mid: 215   Death: 55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74320" y="312724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Rohit Sharma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377440" y="3218688"/>
            <a:ext cx="971550" cy="23774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6" name="Shape 24"/>
          <p:cNvSpPr/>
          <p:nvPr/>
        </p:nvSpPr>
        <p:spPr>
          <a:xfrm>
            <a:off x="3348990" y="3218688"/>
            <a:ext cx="2743200" cy="237744"/>
          </a:xfrm>
          <a:prstGeom prst="rect">
            <a:avLst/>
          </a:prstGeom>
          <a:solidFill>
            <a:srgbClr val="EAB308"/>
          </a:solidFill>
          <a:ln/>
        </p:spPr>
      </p:sp>
      <p:sp>
        <p:nvSpPr>
          <p:cNvPr id="27" name="Shape 25"/>
          <p:cNvSpPr/>
          <p:nvPr/>
        </p:nvSpPr>
        <p:spPr>
          <a:xfrm>
            <a:off x="6092190" y="3218688"/>
            <a:ext cx="857250" cy="23774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8" name="Text 26"/>
          <p:cNvSpPr/>
          <p:nvPr/>
        </p:nvSpPr>
        <p:spPr>
          <a:xfrm>
            <a:off x="7059168" y="3127248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320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808976" y="3127248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PP: 68   Mid: 192   Death: 60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74320" y="3639312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Travis Head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377440" y="3730752"/>
            <a:ext cx="1289538" cy="23774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2" name="Shape 30"/>
          <p:cNvSpPr/>
          <p:nvPr/>
        </p:nvSpPr>
        <p:spPr>
          <a:xfrm>
            <a:off x="3666978" y="3730752"/>
            <a:ext cx="2203938" cy="237744"/>
          </a:xfrm>
          <a:prstGeom prst="rect">
            <a:avLst/>
          </a:prstGeom>
          <a:solidFill>
            <a:srgbClr val="EAB308"/>
          </a:solidFill>
          <a:ln/>
        </p:spPr>
      </p:sp>
      <p:sp>
        <p:nvSpPr>
          <p:cNvPr id="33" name="Shape 31"/>
          <p:cNvSpPr/>
          <p:nvPr/>
        </p:nvSpPr>
        <p:spPr>
          <a:xfrm>
            <a:off x="5870917" y="3730752"/>
            <a:ext cx="1078523" cy="23774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4" name="Text 32"/>
          <p:cNvSpPr/>
          <p:nvPr/>
        </p:nvSpPr>
        <p:spPr>
          <a:xfrm>
            <a:off x="7059168" y="3639312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390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808976" y="363931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PP: 110   Mid: 188   Death: 92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274320" y="4151376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Kane Williamson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377440" y="4242816"/>
            <a:ext cx="1090013" cy="23774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8" name="Shape 36"/>
          <p:cNvSpPr/>
          <p:nvPr/>
        </p:nvSpPr>
        <p:spPr>
          <a:xfrm>
            <a:off x="3467453" y="4242816"/>
            <a:ext cx="2603921" cy="237744"/>
          </a:xfrm>
          <a:prstGeom prst="rect">
            <a:avLst/>
          </a:prstGeom>
          <a:solidFill>
            <a:srgbClr val="EAB308"/>
          </a:solidFill>
          <a:ln/>
        </p:spPr>
      </p:sp>
      <p:sp>
        <p:nvSpPr>
          <p:cNvPr id="39" name="Shape 37"/>
          <p:cNvSpPr/>
          <p:nvPr/>
        </p:nvSpPr>
        <p:spPr>
          <a:xfrm>
            <a:off x="6071374" y="4242816"/>
            <a:ext cx="878066" cy="23774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0" name="Text 38"/>
          <p:cNvSpPr/>
          <p:nvPr/>
        </p:nvSpPr>
        <p:spPr>
          <a:xfrm>
            <a:off x="7059168" y="4151376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302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7808976" y="4151376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PP: 72   Mid: 172   Death: 58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274320" y="4681728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bowlers: same sparklines but colored by wicket type — Bowled (green) / Caught (yellow) / LBW (red)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We Delivered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2743200" cy="379476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078992"/>
            <a:ext cx="2743200" cy="420624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11556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DBMS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38912" y="1627632"/>
            <a:ext cx="54864" cy="256032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609344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tables + 7 SQL views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8912" y="2121408"/>
            <a:ext cx="54864" cy="256032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103120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 trigger on INSERT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38912" y="2615184"/>
            <a:ext cx="54864" cy="256032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596896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 Function rolling avg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38912" y="3108960"/>
            <a:ext cx="54864" cy="256032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090672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3NF normalization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38912" y="3602736"/>
            <a:ext cx="54864" cy="256032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584448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FK cascade integrity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38912" y="4096512"/>
            <a:ext cx="54864" cy="256032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4078224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TTL API cache in SQLite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18688" y="1078992"/>
            <a:ext cx="2743200" cy="379476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3218688" y="1078992"/>
            <a:ext cx="2743200" cy="420624"/>
          </a:xfrm>
          <a:prstGeom prst="rect">
            <a:avLst/>
          </a:prstGeom>
          <a:solidFill>
            <a:srgbClr val="0E9F6E"/>
          </a:solidFill>
          <a:ln/>
        </p:spPr>
      </p:sp>
      <p:sp>
        <p:nvSpPr>
          <p:cNvPr id="22" name="Text 20"/>
          <p:cNvSpPr/>
          <p:nvPr/>
        </p:nvSpPr>
        <p:spPr>
          <a:xfrm>
            <a:off x="3218688" y="111556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DAA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3383280" y="1627632"/>
            <a:ext cx="54864" cy="256032"/>
          </a:xfrm>
          <a:prstGeom prst="rect">
            <a:avLst/>
          </a:prstGeom>
          <a:solidFill>
            <a:srgbClr val="0E9F6E"/>
          </a:solidFill>
          <a:ln/>
        </p:spPr>
      </p:sp>
      <p:sp>
        <p:nvSpPr>
          <p:cNvPr id="24" name="Text 22"/>
          <p:cNvSpPr/>
          <p:nvPr/>
        </p:nvSpPr>
        <p:spPr>
          <a:xfrm>
            <a:off x="3493008" y="1609344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Trie — O(M) autocomplete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383280" y="2121408"/>
            <a:ext cx="54864" cy="256032"/>
          </a:xfrm>
          <a:prstGeom prst="rect">
            <a:avLst/>
          </a:prstGeom>
          <a:solidFill>
            <a:srgbClr val="0E9F6E"/>
          </a:solidFill>
          <a:ln/>
        </p:spPr>
      </p:sp>
      <p:sp>
        <p:nvSpPr>
          <p:cNvPr id="26" name="Text 24"/>
          <p:cNvSpPr/>
          <p:nvPr/>
        </p:nvSpPr>
        <p:spPr>
          <a:xfrm>
            <a:off x="3493008" y="2103120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BFS — player network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383280" y="2615184"/>
            <a:ext cx="54864" cy="256032"/>
          </a:xfrm>
          <a:prstGeom prst="rect">
            <a:avLst/>
          </a:prstGeom>
          <a:solidFill>
            <a:srgbClr val="0E9F6E"/>
          </a:solidFill>
          <a:ln/>
        </p:spPr>
      </p:sp>
      <p:sp>
        <p:nvSpPr>
          <p:cNvPr id="28" name="Text 26"/>
          <p:cNvSpPr/>
          <p:nvPr/>
        </p:nvSpPr>
        <p:spPr>
          <a:xfrm>
            <a:off x="3493008" y="2596896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Merge Sort — impact rank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383280" y="3108960"/>
            <a:ext cx="54864" cy="256032"/>
          </a:xfrm>
          <a:prstGeom prst="rect">
            <a:avLst/>
          </a:prstGeom>
          <a:solidFill>
            <a:srgbClr val="0E9F6E"/>
          </a:solidFill>
          <a:ln/>
        </p:spPr>
      </p:sp>
      <p:sp>
        <p:nvSpPr>
          <p:cNvPr id="30" name="Text 28"/>
          <p:cNvSpPr/>
          <p:nvPr/>
        </p:nvSpPr>
        <p:spPr>
          <a:xfrm>
            <a:off x="3493008" y="3090672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Kadane's — peak form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383280" y="3602736"/>
            <a:ext cx="54864" cy="256032"/>
          </a:xfrm>
          <a:prstGeom prst="rect">
            <a:avLst/>
          </a:prstGeom>
          <a:solidFill>
            <a:srgbClr val="0E9F6E"/>
          </a:solidFill>
          <a:ln/>
        </p:spPr>
      </p:sp>
      <p:sp>
        <p:nvSpPr>
          <p:cNvPr id="32" name="Text 30"/>
          <p:cNvSpPr/>
          <p:nvPr/>
        </p:nvSpPr>
        <p:spPr>
          <a:xfrm>
            <a:off x="3493008" y="3584448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Rabin-Karp — deep search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383280" y="4096512"/>
            <a:ext cx="54864" cy="256032"/>
          </a:xfrm>
          <a:prstGeom prst="rect">
            <a:avLst/>
          </a:prstGeom>
          <a:solidFill>
            <a:srgbClr val="0E9F6E"/>
          </a:solidFill>
          <a:ln/>
        </p:spPr>
      </p:sp>
      <p:sp>
        <p:nvSpPr>
          <p:cNvPr id="34" name="Text 32"/>
          <p:cNvSpPr/>
          <p:nvPr/>
        </p:nvSpPr>
        <p:spPr>
          <a:xfrm>
            <a:off x="3493008" y="4078224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0/1 Knapsack — fantasy DP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163056" y="1078992"/>
            <a:ext cx="2743200" cy="379476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6163056" y="1078992"/>
            <a:ext cx="2743200" cy="42062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7" name="Text 35"/>
          <p:cNvSpPr/>
          <p:nvPr/>
        </p:nvSpPr>
        <p:spPr>
          <a:xfrm>
            <a:off x="6163056" y="111556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PRODUCT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6327648" y="1627632"/>
            <a:ext cx="54864" cy="2560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9" name="Text 37"/>
          <p:cNvSpPr/>
          <p:nvPr/>
        </p:nvSpPr>
        <p:spPr>
          <a:xfrm>
            <a:off x="6437376" y="1609344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10-tab dark SPA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327648" y="2121408"/>
            <a:ext cx="54864" cy="2560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1" name="Text 39"/>
          <p:cNvSpPr/>
          <p:nvPr/>
        </p:nvSpPr>
        <p:spPr>
          <a:xfrm>
            <a:off x="6437376" y="2103120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Chart.js analytics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327648" y="2615184"/>
            <a:ext cx="54864" cy="2560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3" name="Text 41"/>
          <p:cNvSpPr/>
          <p:nvPr/>
        </p:nvSpPr>
        <p:spPr>
          <a:xfrm>
            <a:off x="6437376" y="2596896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report generator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327648" y="3108960"/>
            <a:ext cx="54864" cy="2560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5" name="Text 43"/>
          <p:cNvSpPr/>
          <p:nvPr/>
        </p:nvSpPr>
        <p:spPr>
          <a:xfrm>
            <a:off x="6437376" y="3090672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BFS network visualizer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327648" y="3602736"/>
            <a:ext cx="54864" cy="2560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7" name="Text 45"/>
          <p:cNvSpPr/>
          <p:nvPr/>
        </p:nvSpPr>
        <p:spPr>
          <a:xfrm>
            <a:off x="6437376" y="3584448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Fantasy squad builder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327648" y="4096512"/>
            <a:ext cx="54864" cy="2560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9" name="Text 47"/>
          <p:cNvSpPr/>
          <p:nvPr/>
        </p:nvSpPr>
        <p:spPr>
          <a:xfrm>
            <a:off x="6437376" y="4078224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API + mock fallback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1A56DB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D97706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2377440"/>
            <a:ext cx="9144000" cy="7315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5" name="Text 3"/>
          <p:cNvSpPr/>
          <p:nvPr/>
        </p:nvSpPr>
        <p:spPr>
          <a:xfrm>
            <a:off x="3840480" y="274320"/>
            <a:ext cx="1463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457200" y="1298448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248716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ICC CT25 Analytics Dashboard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309067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Toib Fayaz  ·  RA2411030030061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438144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Ujjawal Sharma  ·  RA2411030030054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913632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B.Tech CSE  ·  4th Semester  ·  SRM IST Delhi NCR  ·  2025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43159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Stack: Python · Flask · SQLite · HTML5 · Chart.js · html2pdf.js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ICC CT25 Analytics Dashboard</dc:title>
  <dc:subject>PptxGenJS Presentation</dc:subject>
  <dc:creator>Toib Fayaz &amp; Ujjawal Sharma</dc:creator>
  <cp:lastModifiedBy>Toib Fayaz &amp; Ujjawal Sharma</cp:lastModifiedBy>
  <cp:revision>1</cp:revision>
  <dcterms:created xsi:type="dcterms:W3CDTF">2026-04-27T22:00:50Z</dcterms:created>
  <dcterms:modified xsi:type="dcterms:W3CDTF">2026-04-27T22:00:50Z</dcterms:modified>
</cp:coreProperties>
</file>